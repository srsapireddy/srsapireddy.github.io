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63" r:id="rId4"/>
    <p:sldId id="259" r:id="rId5"/>
    <p:sldId id="260" r:id="rId6"/>
    <p:sldId id="265" r:id="rId7"/>
    <p:sldId id="264" r:id="rId8"/>
    <p:sldId id="276" r:id="rId9"/>
    <p:sldId id="280" r:id="rId10"/>
    <p:sldId id="281" r:id="rId11"/>
    <p:sldId id="282" r:id="rId12"/>
    <p:sldId id="283" r:id="rId13"/>
    <p:sldId id="289" r:id="rId14"/>
    <p:sldId id="290" r:id="rId15"/>
    <p:sldId id="291" r:id="rId16"/>
    <p:sldId id="257" r:id="rId17"/>
    <p:sldId id="285" r:id="rId18"/>
    <p:sldId id="286" r:id="rId19"/>
    <p:sldId id="292" r:id="rId20"/>
    <p:sldId id="261" r:id="rId21"/>
    <p:sldId id="293" r:id="rId22"/>
    <p:sldId id="262" r:id="rId23"/>
    <p:sldId id="294" r:id="rId24"/>
    <p:sldId id="287" r:id="rId25"/>
    <p:sldId id="288" r:id="rId26"/>
    <p:sldId id="295" r:id="rId27"/>
    <p:sldId id="266" r:id="rId28"/>
    <p:sldId id="27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67"/>
  </p:normalViewPr>
  <p:slideViewPr>
    <p:cSldViewPr snapToGrid="0">
      <p:cViewPr varScale="1">
        <p:scale>
          <a:sx n="145" d="100"/>
          <a:sy n="145" d="100"/>
        </p:scale>
        <p:origin x="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A464D-54DF-4BCF-B766-CC99D3F0D41D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C5495-E8F1-433E-BFB9-896FEE8AD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52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everyone.</a:t>
            </a:r>
            <a:br>
              <a:rPr lang="en-US" dirty="0"/>
            </a:br>
            <a:r>
              <a:rPr lang="en-US" dirty="0"/>
              <a:t>Today I want to show you something fascinating: how the tiny chips inside your phone, laptop, smartwatch, and even AI systems are actually built.</a:t>
            </a:r>
          </a:p>
          <a:p>
            <a:r>
              <a:rPr lang="en-US" dirty="0"/>
              <a:t>We’ll start from a </a:t>
            </a:r>
            <a:r>
              <a:rPr lang="en-US" b="1" dirty="0"/>
              <a:t>single transistor</a:t>
            </a:r>
            <a:r>
              <a:rPr lang="en-US" dirty="0"/>
              <a:t>, which behaves like a tiny switch, and by the end of this talk, you’ll see how engineers transform that tiny switch into a real silicon chip.</a:t>
            </a:r>
          </a:p>
          <a:p>
            <a:r>
              <a:rPr lang="en-US" b="1" dirty="0"/>
              <a:t>Transition</a:t>
            </a:r>
          </a:p>
          <a:p>
            <a:r>
              <a:rPr lang="en-US" dirty="0"/>
              <a:t>So before we talk about design, let’s first understand </a:t>
            </a:r>
            <a:r>
              <a:rPr lang="en-US" b="1" dirty="0"/>
              <a:t>why chips matter so much in our daily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89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to say</a:t>
            </a:r>
          </a:p>
          <a:p>
            <a:r>
              <a:rPr lang="en-US" dirty="0"/>
              <a:t>Every smart device around us depends on chips.</a:t>
            </a:r>
            <a:br>
              <a:rPr lang="en-US" dirty="0"/>
            </a:br>
            <a:r>
              <a:rPr lang="en-US" dirty="0"/>
              <a:t>Your phone camera, laptop, Wi-Fi router, smartwatch, car sensors, and even AI tools all run because of silicon chips.</a:t>
            </a:r>
          </a:p>
          <a:p>
            <a:r>
              <a:rPr lang="en-US" dirty="0"/>
              <a:t>Earlier, chips were mainly used for faster computing in desktops and laptops.</a:t>
            </a:r>
            <a:br>
              <a:rPr lang="en-US" dirty="0"/>
            </a:br>
            <a:r>
              <a:rPr lang="en-US" dirty="0"/>
              <a:t>But today chips are everywhere:</a:t>
            </a:r>
          </a:p>
          <a:p>
            <a:r>
              <a:rPr lang="en-US" dirty="0"/>
              <a:t>smartphones </a:t>
            </a:r>
          </a:p>
          <a:p>
            <a:r>
              <a:rPr lang="en-US" dirty="0"/>
              <a:t>medical devices </a:t>
            </a:r>
          </a:p>
          <a:p>
            <a:r>
              <a:rPr lang="en-US" dirty="0"/>
              <a:t>autonomous cars </a:t>
            </a:r>
          </a:p>
          <a:p>
            <a:r>
              <a:rPr lang="en-US" dirty="0"/>
              <a:t>drones </a:t>
            </a:r>
          </a:p>
          <a:p>
            <a:r>
              <a:rPr lang="en-US" dirty="0"/>
              <a:t>AI robots </a:t>
            </a:r>
          </a:p>
          <a:p>
            <a:r>
              <a:rPr lang="en-US" dirty="0"/>
              <a:t>satellites </a:t>
            </a:r>
          </a:p>
          <a:p>
            <a:r>
              <a:rPr lang="en-US" dirty="0"/>
              <a:t>Chips are no longer just calculating numbers.</a:t>
            </a:r>
            <a:br>
              <a:rPr lang="en-US" dirty="0"/>
            </a:br>
            <a:r>
              <a:rPr lang="en-US" dirty="0"/>
              <a:t>They are </a:t>
            </a:r>
            <a:r>
              <a:rPr lang="en-US" b="1" dirty="0"/>
              <a:t>making decisions, sensing the world, and enabling intelligence.</a:t>
            </a:r>
            <a:endParaRPr lang="en-US" dirty="0"/>
          </a:p>
          <a:p>
            <a:r>
              <a:rPr lang="en-US" b="1" dirty="0"/>
              <a:t>Good audience question</a:t>
            </a:r>
          </a:p>
          <a:p>
            <a:r>
              <a:rPr lang="en-US" dirty="0"/>
              <a:t>Can anyone guess how many chips are inside a smartphone?</a:t>
            </a:r>
          </a:p>
          <a:p>
            <a:r>
              <a:rPr lang="en-US" b="1" dirty="0"/>
              <a:t>Transition</a:t>
            </a:r>
          </a:p>
          <a:p>
            <a:r>
              <a:rPr lang="en-US" dirty="0"/>
              <a:t>As chips became more useful, engineers kept making them smaller and more powerful. That leads us to Moore’s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35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to say</a:t>
            </a:r>
          </a:p>
          <a:p>
            <a:r>
              <a:rPr lang="en-US" dirty="0"/>
              <a:t>Moore’s Law is the observation that the number of transistors on a chip roughly doubles every couple of years.</a:t>
            </a:r>
          </a:p>
          <a:p>
            <a:r>
              <a:rPr lang="en-US" dirty="0"/>
              <a:t>More transistors means:</a:t>
            </a:r>
          </a:p>
          <a:p>
            <a:r>
              <a:rPr lang="en-US" dirty="0"/>
              <a:t>more speed </a:t>
            </a:r>
          </a:p>
          <a:p>
            <a:r>
              <a:rPr lang="en-US" dirty="0"/>
              <a:t>more functionality </a:t>
            </a:r>
          </a:p>
          <a:p>
            <a:r>
              <a:rPr lang="en-US" dirty="0"/>
              <a:t>lower cost per operation </a:t>
            </a:r>
          </a:p>
          <a:p>
            <a:r>
              <a:rPr lang="en-US" dirty="0"/>
              <a:t>more AI capability </a:t>
            </a:r>
          </a:p>
          <a:p>
            <a:r>
              <a:rPr lang="en-US" dirty="0"/>
              <a:t>This is why your laptop today is far more powerful than a supercomputer from decades ago.</a:t>
            </a:r>
          </a:p>
          <a:p>
            <a:r>
              <a:rPr lang="en-US" b="1" dirty="0"/>
              <a:t>Nice line</a:t>
            </a:r>
          </a:p>
          <a:p>
            <a:r>
              <a:rPr lang="en-US" dirty="0"/>
              <a:t>The reason this is possible is because the transistor itself became unbelievably small.</a:t>
            </a:r>
          </a:p>
          <a:p>
            <a:r>
              <a:rPr lang="en-US" b="1" dirty="0"/>
              <a:t>Transition</a:t>
            </a:r>
          </a:p>
          <a:p>
            <a:r>
              <a:rPr lang="en-US" dirty="0"/>
              <a:t>So what exactly is this transistor that made the digital world possible?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A0437-F896-DCE0-278F-FBCFC535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77671-E779-E4D5-160C-2F46DC00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5666EF-B03E-EF8D-C71B-5D6AE522E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to say</a:t>
            </a:r>
          </a:p>
          <a:p>
            <a:r>
              <a:rPr lang="en-US" dirty="0"/>
              <a:t>A transistor is simply an </a:t>
            </a:r>
            <a:r>
              <a:rPr lang="en-US" b="1" dirty="0"/>
              <a:t>electronic switch controlled by voltage</a:t>
            </a:r>
            <a:r>
              <a:rPr lang="en-US" dirty="0"/>
              <a:t>.</a:t>
            </a:r>
          </a:p>
          <a:p>
            <a:r>
              <a:rPr lang="en-US" dirty="0"/>
              <a:t>Think of it like a water tap:</a:t>
            </a:r>
          </a:p>
          <a:p>
            <a:r>
              <a:rPr lang="en-US" dirty="0"/>
              <a:t>when the tap is open → water flows </a:t>
            </a:r>
          </a:p>
          <a:p>
            <a:r>
              <a:rPr lang="en-US" dirty="0"/>
              <a:t>when closed → no flow </a:t>
            </a:r>
          </a:p>
          <a:p>
            <a:r>
              <a:rPr lang="en-US" dirty="0"/>
              <a:t>In electronics:</a:t>
            </a:r>
          </a:p>
          <a:p>
            <a:r>
              <a:rPr lang="en-US" b="1" dirty="0"/>
              <a:t>Gate voltage controls the switch</a:t>
            </a:r>
            <a:r>
              <a:rPr lang="en-US" dirty="0"/>
              <a:t> </a:t>
            </a:r>
          </a:p>
          <a:p>
            <a:r>
              <a:rPr lang="en-US" dirty="0"/>
              <a:t>current flows from source to drain </a:t>
            </a:r>
          </a:p>
          <a:p>
            <a:r>
              <a:rPr lang="en-US" dirty="0"/>
              <a:t>For NMOS:</a:t>
            </a:r>
          </a:p>
          <a:p>
            <a:r>
              <a:rPr lang="en-US" dirty="0"/>
              <a:t>Gate = 1 → ON </a:t>
            </a:r>
          </a:p>
          <a:p>
            <a:r>
              <a:rPr lang="en-US" dirty="0"/>
              <a:t>Gate = 0 → OFF </a:t>
            </a:r>
          </a:p>
          <a:p>
            <a:r>
              <a:rPr lang="en-US" dirty="0"/>
              <a:t>For PMOS:</a:t>
            </a:r>
          </a:p>
          <a:p>
            <a:r>
              <a:rPr lang="en-US" dirty="0"/>
              <a:t>Gate = 0 → ON </a:t>
            </a:r>
          </a:p>
          <a:p>
            <a:r>
              <a:rPr lang="en-US" dirty="0"/>
              <a:t>Gate = 1 → OFF </a:t>
            </a:r>
          </a:p>
          <a:p>
            <a:r>
              <a:rPr lang="en-US" b="1" dirty="0"/>
              <a:t>Simple memorable line</a:t>
            </a:r>
          </a:p>
          <a:p>
            <a:r>
              <a:rPr lang="en-US" dirty="0"/>
              <a:t>Every chip in the world is ultimately built from billions of these tiny voltage-controlled switches.</a:t>
            </a:r>
          </a:p>
          <a:p>
            <a:r>
              <a:rPr lang="en-US" b="1" dirty="0"/>
              <a:t>Transition</a:t>
            </a:r>
          </a:p>
          <a:p>
            <a:r>
              <a:rPr lang="en-US" dirty="0"/>
              <a:t>Once we have switches, the next question is: how do we make them perform computation?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70E92-9DB1-E0E1-0534-10B8407B4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76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64617-AF76-E2D6-8679-B33ADD27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0913A-6C74-3CF5-7F60-D2E57A5BE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79F36-A49E-BC8B-AC9B-D2E74BBAD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to say</a:t>
            </a:r>
          </a:p>
          <a:p>
            <a:r>
              <a:rPr lang="en-US" dirty="0"/>
              <a:t>Here we combine one PMOS and one NMOS transistor to build the simplest logic gate: the </a:t>
            </a:r>
            <a:r>
              <a:rPr lang="en-US" b="1" dirty="0"/>
              <a:t>NOT gate</a:t>
            </a:r>
            <a:r>
              <a:rPr lang="en-US" dirty="0"/>
              <a:t>, also called an inverter.</a:t>
            </a:r>
          </a:p>
          <a:p>
            <a:r>
              <a:rPr lang="en-US" dirty="0"/>
              <a:t>If input is 0, output becomes 1.</a:t>
            </a:r>
            <a:br>
              <a:rPr lang="en-US" dirty="0"/>
            </a:br>
            <a:r>
              <a:rPr lang="en-US" dirty="0"/>
              <a:t>If input is 1, output becomes 0.</a:t>
            </a:r>
          </a:p>
          <a:p>
            <a:r>
              <a:rPr lang="en-US" dirty="0"/>
              <a:t>So this circuit flips the input.</a:t>
            </a:r>
          </a:p>
          <a:p>
            <a:r>
              <a:rPr lang="en-US" dirty="0"/>
              <a:t>This is the first step from </a:t>
            </a:r>
            <a:r>
              <a:rPr lang="en-US" b="1" dirty="0"/>
              <a:t>physics to logic</a:t>
            </a:r>
            <a:r>
              <a:rPr lang="en-US" dirty="0"/>
              <a:t>.</a:t>
            </a:r>
          </a:p>
          <a:p>
            <a:r>
              <a:rPr lang="en-US" b="1" dirty="0"/>
              <a:t>Key line</a:t>
            </a:r>
          </a:p>
          <a:p>
            <a:r>
              <a:rPr lang="en-US" dirty="0"/>
              <a:t>This is where transistors stop being just switches and start becoming computation.</a:t>
            </a:r>
          </a:p>
          <a:p>
            <a:r>
              <a:rPr lang="en-US" b="1" dirty="0"/>
              <a:t>Transition</a:t>
            </a:r>
          </a:p>
          <a:p>
            <a:r>
              <a:rPr lang="en-US" dirty="0"/>
              <a:t>Once we can build one logic gate, we can combine many gates into useful digital circuits.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3F5E2-65C7-7192-B385-94E712DC4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6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to say</a:t>
            </a:r>
          </a:p>
          <a:p>
            <a:r>
              <a:rPr lang="en-US" dirty="0"/>
              <a:t>By combining transistors in different ways, we can build:</a:t>
            </a:r>
          </a:p>
          <a:p>
            <a:r>
              <a:rPr lang="en-US" dirty="0"/>
              <a:t>AND </a:t>
            </a:r>
          </a:p>
          <a:p>
            <a:r>
              <a:rPr lang="en-US" dirty="0"/>
              <a:t>OR </a:t>
            </a:r>
          </a:p>
          <a:p>
            <a:r>
              <a:rPr lang="en-US" dirty="0"/>
              <a:t>NAND </a:t>
            </a:r>
          </a:p>
          <a:p>
            <a:r>
              <a:rPr lang="en-US" dirty="0"/>
              <a:t>NOR </a:t>
            </a:r>
          </a:p>
          <a:p>
            <a:r>
              <a:rPr lang="en-US" dirty="0"/>
              <a:t>XOR </a:t>
            </a:r>
          </a:p>
          <a:p>
            <a:r>
              <a:rPr lang="en-US" dirty="0"/>
              <a:t>These are the alphabet of digital design.</a:t>
            </a:r>
            <a:br>
              <a:rPr lang="en-US" dirty="0"/>
            </a:br>
            <a:r>
              <a:rPr lang="en-US" dirty="0"/>
              <a:t>Every processor, GPU, and AI accelerator is built from these basic logic blocks.</a:t>
            </a:r>
          </a:p>
          <a:p>
            <a:r>
              <a:rPr lang="en-US" b="1" dirty="0"/>
              <a:t>Nice line</a:t>
            </a:r>
          </a:p>
          <a:p>
            <a:r>
              <a:rPr lang="en-US" dirty="0"/>
              <a:t>Just like letters form words, gates form circuits.</a:t>
            </a:r>
          </a:p>
          <a:p>
            <a:r>
              <a:rPr lang="en-US" b="1" dirty="0"/>
              <a:t>Transition</a:t>
            </a:r>
          </a:p>
          <a:p>
            <a:r>
              <a:rPr lang="en-US" dirty="0"/>
              <a:t>Let’s now combine these gates into a simple arithmetic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08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B206C-7E54-C550-C5BB-E014A5494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0537F-D680-80EE-A3C2-7F89C6DC7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2859D-6256-B26C-77A4-7C87FD81C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to say</a:t>
            </a:r>
          </a:p>
          <a:p>
            <a:r>
              <a:rPr lang="en-US" dirty="0"/>
              <a:t>Here we use logic gates to build a </a:t>
            </a:r>
            <a:r>
              <a:rPr lang="en-US" b="1" dirty="0"/>
              <a:t>half adder</a:t>
            </a:r>
            <a:r>
              <a:rPr lang="en-US" dirty="0"/>
              <a:t>, which adds two binary numbers.</a:t>
            </a:r>
          </a:p>
          <a:p>
            <a:r>
              <a:rPr lang="en-US" dirty="0"/>
              <a:t>This is the beginning of arithmetic hardware.</a:t>
            </a:r>
            <a:br>
              <a:rPr lang="en-US" dirty="0"/>
            </a:br>
            <a:r>
              <a:rPr lang="en-US" dirty="0"/>
              <a:t>The same idea scales into:</a:t>
            </a:r>
          </a:p>
          <a:p>
            <a:r>
              <a:rPr lang="en-US" dirty="0"/>
              <a:t>ALUs </a:t>
            </a:r>
          </a:p>
          <a:p>
            <a:r>
              <a:rPr lang="en-US" dirty="0"/>
              <a:t>CPUs </a:t>
            </a:r>
          </a:p>
          <a:p>
            <a:r>
              <a:rPr lang="en-US" dirty="0"/>
              <a:t>DSPs </a:t>
            </a:r>
          </a:p>
          <a:p>
            <a:r>
              <a:rPr lang="en-US" dirty="0"/>
              <a:t>AI accelerators </a:t>
            </a:r>
          </a:p>
          <a:p>
            <a:r>
              <a:rPr lang="en-US" b="1" dirty="0"/>
              <a:t>Powerful line</a:t>
            </a:r>
          </a:p>
          <a:p>
            <a:r>
              <a:rPr lang="en-US" dirty="0"/>
              <a:t>Your laptop’s processor is essentially a very advanced version of this idea.</a:t>
            </a:r>
          </a:p>
          <a:p>
            <a:r>
              <a:rPr lang="en-US" b="1" dirty="0"/>
              <a:t>Transition</a:t>
            </a:r>
          </a:p>
          <a:p>
            <a:r>
              <a:rPr lang="en-US" dirty="0"/>
              <a:t>But engineers do not manually draw every gate in modern chips. Instead, we describe hardware using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7D22A-D1D7-64E0-30C5-E8678848D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21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to say</a:t>
            </a:r>
          </a:p>
          <a:p>
            <a:r>
              <a:rPr lang="en-US" dirty="0"/>
              <a:t>Instead of drawing gates by hand, we write hardware in languages like:</a:t>
            </a:r>
          </a:p>
          <a:p>
            <a:r>
              <a:rPr lang="en-US" dirty="0"/>
              <a:t>Verilog </a:t>
            </a:r>
          </a:p>
          <a:p>
            <a:r>
              <a:rPr lang="en-US" dirty="0"/>
              <a:t>VHDL </a:t>
            </a:r>
          </a:p>
          <a:p>
            <a:r>
              <a:rPr lang="en-US" dirty="0" err="1"/>
              <a:t>SystemVerilog</a:t>
            </a:r>
            <a:r>
              <a:rPr lang="en-US" dirty="0"/>
              <a:t> </a:t>
            </a:r>
          </a:p>
          <a:p>
            <a:r>
              <a:rPr lang="en-US" dirty="0"/>
              <a:t>This level is called </a:t>
            </a:r>
            <a:r>
              <a:rPr lang="en-US" b="1" dirty="0"/>
              <a:t>RTL: Register Transfer Level</a:t>
            </a:r>
            <a:r>
              <a:rPr lang="en-US" dirty="0"/>
              <a:t>.</a:t>
            </a:r>
          </a:p>
          <a:p>
            <a:r>
              <a:rPr lang="en-US" dirty="0"/>
              <a:t>RTL describes:</a:t>
            </a:r>
          </a:p>
          <a:p>
            <a:r>
              <a:rPr lang="en-US" dirty="0"/>
              <a:t>data movement </a:t>
            </a:r>
          </a:p>
          <a:p>
            <a:r>
              <a:rPr lang="en-US" dirty="0"/>
              <a:t>registers </a:t>
            </a:r>
          </a:p>
          <a:p>
            <a:r>
              <a:rPr lang="en-US" dirty="0"/>
              <a:t>combinational logic </a:t>
            </a:r>
          </a:p>
          <a:p>
            <a:r>
              <a:rPr lang="en-US" dirty="0"/>
              <a:t>timing behavior </a:t>
            </a:r>
          </a:p>
          <a:p>
            <a:r>
              <a:rPr lang="en-US" b="1" dirty="0"/>
              <a:t>Example line</a:t>
            </a:r>
          </a:p>
          <a:p>
            <a:r>
              <a:rPr lang="en-US" dirty="0"/>
              <a:t>So hardware engineers write code, but this code describes circuits, not software execution.</a:t>
            </a:r>
          </a:p>
          <a:p>
            <a:r>
              <a:rPr lang="en-US" b="1" dirty="0"/>
              <a:t>Transition</a:t>
            </a:r>
          </a:p>
          <a:p>
            <a:r>
              <a:rPr lang="en-US" dirty="0"/>
              <a:t>Once RTL is ready, software tools convert it into actual gates.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236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to say</a:t>
            </a:r>
          </a:p>
          <a:p>
            <a:r>
              <a:rPr lang="en-US" dirty="0"/>
              <a:t>Synthesis converts RTL code into a </a:t>
            </a:r>
            <a:r>
              <a:rPr lang="en-US" b="1" dirty="0"/>
              <a:t>gate-level netlist</a:t>
            </a:r>
            <a:r>
              <a:rPr lang="en-US" dirty="0"/>
              <a:t>.</a:t>
            </a:r>
          </a:p>
          <a:p>
            <a:r>
              <a:rPr lang="en-US" dirty="0"/>
              <a:t>Think of this as translating:</a:t>
            </a:r>
          </a:p>
          <a:p>
            <a:r>
              <a:rPr lang="en-US" dirty="0"/>
              <a:t>human-readable hardware code</a:t>
            </a:r>
            <a:br>
              <a:rPr lang="en-US" dirty="0"/>
            </a:br>
            <a:r>
              <a:rPr lang="en-US" dirty="0"/>
              <a:t>into </a:t>
            </a:r>
          </a:p>
          <a:p>
            <a:r>
              <a:rPr lang="en-US" dirty="0"/>
              <a:t>real logic gates and standard cells </a:t>
            </a:r>
          </a:p>
          <a:p>
            <a:r>
              <a:rPr lang="en-US" b="1" dirty="0"/>
              <a:t>Nice line</a:t>
            </a:r>
          </a:p>
          <a:p>
            <a:r>
              <a:rPr lang="en-US" dirty="0"/>
              <a:t>This is where your Verilog becomes physically realizable hardware.</a:t>
            </a:r>
          </a:p>
          <a:p>
            <a:r>
              <a:rPr lang="en-US" b="1" dirty="0"/>
              <a:t>Transition</a:t>
            </a:r>
          </a:p>
          <a:p>
            <a:r>
              <a:rPr lang="en-US" dirty="0"/>
              <a:t>But gates alone are not enough. They must now be arranged on silicon.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5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ere we decide where major blocks go on the chip.</a:t>
            </a:r>
            <a:br>
              <a:rPr lang="en-US" dirty="0"/>
            </a:br>
            <a:r>
              <a:rPr lang="en-US" dirty="0"/>
              <a:t>Similar to planning rooms in a building:</a:t>
            </a:r>
          </a:p>
          <a:p>
            <a:r>
              <a:rPr lang="en-US" dirty="0"/>
              <a:t>CPU block </a:t>
            </a:r>
          </a:p>
          <a:p>
            <a:r>
              <a:rPr lang="en-US" dirty="0"/>
              <a:t>memory </a:t>
            </a:r>
          </a:p>
          <a:p>
            <a:r>
              <a:rPr lang="en-US" dirty="0"/>
              <a:t>IO </a:t>
            </a:r>
          </a:p>
          <a:p>
            <a:r>
              <a:rPr lang="en-US" dirty="0"/>
              <a:t>clock blocks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21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like buildings need electrical wiring, chips need power networks.</a:t>
            </a:r>
            <a:br>
              <a:rPr lang="en-US" dirty="0"/>
            </a:br>
            <a:r>
              <a:rPr lang="en-US" dirty="0"/>
              <a:t>We distribute VDD and ground safely across the chip.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10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every standard cell is placed automatically by EDA tools.</a:t>
            </a:r>
            <a:br>
              <a:rPr lang="en-US" dirty="0"/>
            </a:br>
            <a:r>
              <a:rPr lang="en-US" dirty="0"/>
              <a:t>The goal is:</a:t>
            </a:r>
          </a:p>
          <a:p>
            <a:r>
              <a:rPr lang="en-US" dirty="0"/>
              <a:t>minimal delay </a:t>
            </a:r>
          </a:p>
          <a:p>
            <a:r>
              <a:rPr lang="en-US" dirty="0"/>
              <a:t>low congestion </a:t>
            </a:r>
          </a:p>
          <a:p>
            <a:r>
              <a:rPr lang="en-US" dirty="0"/>
              <a:t>low power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2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means Clock Tree Synthesis.</a:t>
            </a:r>
            <a:br>
              <a:rPr lang="en-US" dirty="0"/>
            </a:br>
            <a:r>
              <a:rPr lang="en-US" dirty="0"/>
              <a:t>The clock must reach millions of flip-flops almost simultaneously.</a:t>
            </a:r>
            <a:br>
              <a:rPr lang="en-US" dirty="0"/>
            </a:br>
            <a:r>
              <a:rPr lang="en-US" dirty="0"/>
              <a:t>Otherwise timing errors happen.</a:t>
            </a:r>
          </a:p>
          <a:p>
            <a:r>
              <a:rPr lang="en-US" dirty="0"/>
              <a:t>Use analogy:</a:t>
            </a:r>
          </a:p>
          <a:p>
            <a:r>
              <a:rPr lang="en-US" dirty="0"/>
              <a:t>Like making sure every student in the room hears the bell at the same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4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uting</a:t>
            </a:r>
            <a:endParaRPr lang="en-US" b="1" dirty="0"/>
          </a:p>
          <a:p>
            <a:r>
              <a:rPr lang="en-US" dirty="0"/>
              <a:t>After placement, we connect everything with metal wires.</a:t>
            </a:r>
            <a:br>
              <a:rPr lang="en-US" dirty="0"/>
            </a:br>
            <a:r>
              <a:rPr lang="en-US" dirty="0"/>
              <a:t>This is like building roads between houses in a city.</a:t>
            </a:r>
          </a:p>
          <a:p>
            <a:r>
              <a:rPr lang="en-US" b="1" dirty="0"/>
              <a:t>Great analogy</a:t>
            </a:r>
          </a:p>
          <a:p>
            <a:r>
              <a:rPr lang="en-US" dirty="0"/>
              <a:t>Placement decides where houses are. Routing builds the roads.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72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CA7A-1248-EA6A-1789-83B079F1F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D82E2-8713-9373-D1F2-C95E629F7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1AADD-B11C-2E3E-60F7-47693C048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circuit is doing logic, not just switching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10017-AF7A-155E-47B6-67398ECDE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C5495-E8F1-433E-BFB9-896FEE8ADB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84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0C3DF-EC10-BEB4-858D-B029992B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C028A-1463-9205-412C-7D8A2A8B3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CE129-AC1B-372F-E90F-17E270FE7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0836-58CD-4EBD-8F17-BA46EE8A62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E36AB-062C-F0F8-6357-69BAAF1E3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45276-3C77-D931-8371-F1D39F0F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2965-8152-41E0-A742-7DBC47048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7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9B2B2-7C9D-0EA0-CB00-C104DAA6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BED34-44FA-880B-E308-C2EDBB206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DB1B7-BA04-2469-F56B-AE41D8120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0836-58CD-4EBD-8F17-BA46EE8A62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312BB-9A2B-25BE-11B2-0A1B6C99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5DDEA-8446-1C7B-7425-27381FF3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2965-8152-41E0-A742-7DBC47048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28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975C-F112-EB93-B7C2-05F0EFCD6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BE3E2-C3BC-8016-3727-430AFF36B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378C2-D041-FA05-4DCB-3512B5237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0836-58CD-4EBD-8F17-BA46EE8A62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2EAF8-B923-45F6-27E3-BC731CD5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82071-7969-D5D4-C47D-C9F0DD13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2965-8152-41E0-A742-7DBC47048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06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5B0EB-A8EF-C1CF-6135-456288E26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65A74-0789-DDB3-A480-6B025208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3FE59-A947-5456-208F-BE248D26B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23F18-36F5-B683-DA37-091EA5AD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0836-58CD-4EBD-8F17-BA46EE8A62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1BDC7-FAF7-7066-F0EF-59E07581F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8B4E6-344E-2EAA-1447-0EE3E93B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2965-8152-41E0-A742-7DBC47048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1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CC6A0-091E-99EA-3684-EDE9E79E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797A9-A995-78B8-9A4D-86CBFA851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110EC-ECB5-216B-9A50-896C07ABD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FB87B-54FC-7C2A-7B9E-B38DB4FA0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5FC4F8-8A84-926C-F5AE-D1179AFDC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C816C-536C-18FE-31B1-0140C7816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0836-58CD-4EBD-8F17-BA46EE8A62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2BC830-8C06-AB45-3FAA-09A9800E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940D01-8AA8-A80A-4B71-8352D703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2965-8152-41E0-A742-7DBC47048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6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31BDB-8A26-040A-E5E9-536C9EA2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6967D-43EE-7455-95F6-99629E7D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0836-58CD-4EBD-8F17-BA46EE8A62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60E48-E25E-095B-1460-180070AA4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901000-2E11-B417-31E8-B74D2D613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2965-8152-41E0-A742-7DBC47048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6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E013FD-7A09-786F-2272-98648F402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0836-58CD-4EBD-8F17-BA46EE8A62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7DFA3-C78A-A4C6-42EE-17474793E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6B6A5-B9F6-C0F3-B6A0-55C702F8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2965-8152-41E0-A742-7DBC47048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0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B0EE9-EDCC-757F-32AD-168CC6E62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14C77-689A-3FDE-6720-3658FDE7C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342F5-3E90-851A-40B0-368848BB6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4F8D4-553D-0F02-A1FA-7C795D83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0836-58CD-4EBD-8F17-BA46EE8A62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03AF0-87A5-AE91-2018-673F5365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35772-0CA1-3643-6233-3C1F1E79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2965-8152-41E0-A742-7DBC47048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8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1DE6-4BE4-347C-677F-5F115EB6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051E49-3551-A435-D67A-023A62C66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69E53-5A66-1C3B-1258-16D4CA2E5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3693C-ED08-70C0-F001-D1E8686B6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0836-58CD-4EBD-8F17-BA46EE8A62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8D2E1-947A-AB08-F773-EBC23C04F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85055-EDD5-3A59-6C00-B6F3735B5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2965-8152-41E0-A742-7DBC47048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4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CD12-326E-8694-551D-8AA9CB55A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0E593-A861-C7A5-99EE-D687A9034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3CC34-F3EC-8521-B38E-1ACA48A8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0836-58CD-4EBD-8F17-BA46EE8A62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8BFB0-9714-841F-6A7B-7B7AD6CA6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A7723-3B70-BDE1-C6C0-A90061676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2965-8152-41E0-A742-7DBC47048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43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A346DA-A756-4CA8-3276-9981F94B4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633FF-8E9B-C80F-BE8E-E7031678C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B8D53-BFF9-43C6-4FF7-15CE9E23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B0836-58CD-4EBD-8F17-BA46EE8A62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4243D-B08E-C529-9AEE-DB4200456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C4A93-1E1B-9E9B-E076-32FF1147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2965-8152-41E0-A742-7DBC47048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8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47107D-0D11-1011-5F3D-1CB0DBE2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617A8-B352-948E-8732-7005CA53C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A8DB5-1564-8FA5-9B25-055E3B7A3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B0836-58CD-4EBD-8F17-BA46EE8A62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ACBDC-B829-827A-BCE8-DB21AF1A0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B1A9-BCCF-EE94-8628-3687B3D3A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A92965-8152-41E0-A742-7DBC47048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27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microsoft.com/office/2007/relationships/hdphoto" Target="../media/hdphoto5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7.png"/><Relationship Id="rId14" Type="http://schemas.microsoft.com/office/2007/relationships/hdphoto" Target="../media/hdphoto6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ther Board">
            <a:extLst>
              <a:ext uri="{FF2B5EF4-FFF2-40B4-BE49-F238E27FC236}">
                <a16:creationId xmlns:a16="http://schemas.microsoft.com/office/drawing/2014/main" id="{5D20AA1D-6F24-D2B1-7703-5582F2CE8C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5709" r="-1" b="-1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F3708D-9003-A4A4-C865-D6C08386E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From Transistor to Silicon: How a Chip Is Born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34FF4-3632-E6CC-0FBE-3E2B24FC01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IEEE Invited Student Lecture</a:t>
            </a:r>
          </a:p>
          <a:p>
            <a:r>
              <a:rPr lang="en-US">
                <a:solidFill>
                  <a:schemeClr val="bg1"/>
                </a:solidFill>
              </a:rPr>
              <a:t>Srinivas Rahul Sapireddy</a:t>
            </a:r>
          </a:p>
          <a:p>
            <a:r>
              <a:rPr lang="en-US">
                <a:solidFill>
                  <a:schemeClr val="bg1"/>
                </a:solidFill>
              </a:rPr>
              <a:t>Illinois State University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6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9C6B-9B7F-07CE-5508-556CF3D5D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Chips Matter</a:t>
            </a:r>
            <a:br>
              <a:rPr lang="en-US" b="1" dirty="0"/>
            </a:br>
            <a:r>
              <a:rPr lang="en-US" b="1" dirty="0"/>
              <a:t>The Invisible Technology Around Us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87EF5-AAC0-062B-0600-A93C914FF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146"/>
            <a:ext cx="10515600" cy="47526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                                                                 Every smart device runs on chips.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6173A-7DD0-905D-C0AE-959C74699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471" y="1885602"/>
            <a:ext cx="7469436" cy="41547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FFE759-087D-378F-9C08-E6CCA415CA8B}"/>
              </a:ext>
            </a:extLst>
          </p:cNvPr>
          <p:cNvSpPr txBox="1"/>
          <p:nvPr/>
        </p:nvSpPr>
        <p:spPr>
          <a:xfrm>
            <a:off x="2631478" y="6050563"/>
            <a:ext cx="7084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From PCs to AI robots, every revolution is powered by silicon chips.</a:t>
            </a:r>
          </a:p>
        </p:txBody>
      </p:sp>
    </p:spTree>
    <p:extLst>
      <p:ext uri="{BB962C8B-B14F-4D97-AF65-F5344CB8AC3E}">
        <p14:creationId xmlns:p14="http://schemas.microsoft.com/office/powerpoint/2010/main" val="986348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4E987-11EE-991D-31F0-BBFF6F6D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03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Moore’s Law</a:t>
            </a:r>
          </a:p>
        </p:txBody>
      </p:sp>
      <p:pic>
        <p:nvPicPr>
          <p:cNvPr id="1026" name="Picture 2" descr="Moore's law - Wikipedia">
            <a:extLst>
              <a:ext uri="{FF2B5EF4-FFF2-40B4-BE49-F238E27FC236}">
                <a16:creationId xmlns:a16="http://schemas.microsoft.com/office/drawing/2014/main" id="{947C14E6-E833-6D20-A961-CBF1F8E72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087" y="931718"/>
            <a:ext cx="7831826" cy="579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421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05C0-261D-D71E-797C-8E56A970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EBF38-828D-6702-C242-3C8360DFE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The Smallest Building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B8087-25A9-667B-96E1-B60B9A380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7526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A transistor is an electronic switch.</a:t>
            </a:r>
          </a:p>
          <a:p>
            <a:pPr marL="0" indent="0">
              <a:buNone/>
            </a:pPr>
            <a:r>
              <a:rPr lang="en-US" sz="1800" b="1" dirty="0"/>
              <a:t>n-type MOS Transistor</a:t>
            </a:r>
          </a:p>
          <a:p>
            <a:r>
              <a:rPr lang="en-US" sz="1800" dirty="0"/>
              <a:t>If the </a:t>
            </a:r>
            <a:r>
              <a:rPr lang="en-US" sz="1800" b="1" dirty="0"/>
              <a:t>Gate = 1 (positive voltage)</a:t>
            </a:r>
            <a:r>
              <a:rPr lang="en-US" sz="1800" dirty="0"/>
              <a:t>, current can flow from </a:t>
            </a:r>
            <a:r>
              <a:rPr lang="en-US" sz="1800" b="1" dirty="0"/>
              <a:t>source to drain</a:t>
            </a:r>
            <a:r>
              <a:rPr lang="en-US" sz="1800" dirty="0"/>
              <a:t> → </a:t>
            </a:r>
            <a:r>
              <a:rPr lang="en-US" sz="1800" b="1" dirty="0"/>
              <a:t>switch ON (closed)</a:t>
            </a:r>
            <a:r>
              <a:rPr lang="en-US" sz="1800" dirty="0"/>
              <a:t> </a:t>
            </a:r>
          </a:p>
          <a:p>
            <a:r>
              <a:rPr lang="en-US" sz="1800" dirty="0"/>
              <a:t>If the </a:t>
            </a:r>
            <a:r>
              <a:rPr lang="en-US" sz="1800" b="1" dirty="0"/>
              <a:t>Gate = 0 (zero voltage)</a:t>
            </a:r>
            <a:r>
              <a:rPr lang="en-US" sz="1800" dirty="0"/>
              <a:t>, current cannot flow → </a:t>
            </a:r>
            <a:r>
              <a:rPr lang="en-US" sz="1800" b="1" dirty="0"/>
              <a:t>switch OFF (open)</a:t>
            </a:r>
          </a:p>
          <a:p>
            <a:pPr marL="0" indent="0">
              <a:buNone/>
            </a:pPr>
            <a:r>
              <a:rPr lang="en-US" sz="1800" b="1" dirty="0"/>
              <a:t>p-type MOS Transistor</a:t>
            </a:r>
          </a:p>
          <a:p>
            <a:r>
              <a:rPr lang="en-US" sz="1800" b="1" dirty="0"/>
              <a:t>Gate = 0 → ON → switch closed</a:t>
            </a:r>
            <a:r>
              <a:rPr lang="en-US" sz="1800" dirty="0"/>
              <a:t> </a:t>
            </a:r>
          </a:p>
          <a:p>
            <a:r>
              <a:rPr lang="en-US" sz="1800" b="1" dirty="0"/>
              <a:t>Gate = 1 → OFF → switch open</a:t>
            </a:r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5C731E-1E12-B686-5101-66A711ED2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2500" y="3939929"/>
            <a:ext cx="2209992" cy="17756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1A88D4-D90F-C846-413B-8A26342494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56792" y="3909446"/>
            <a:ext cx="320068" cy="18365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215CA5-B7C4-E1A9-D4F6-167ECBBAAB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59398" y="3959102"/>
            <a:ext cx="464860" cy="17679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FFA532-0B75-016C-BF91-009DE94D0AB6}"/>
              </a:ext>
            </a:extLst>
          </p:cNvPr>
          <p:cNvSpPr txBox="1"/>
          <p:nvPr/>
        </p:nvSpPr>
        <p:spPr>
          <a:xfrm>
            <a:off x="3783724" y="5885793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Gate =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90D8B0-8562-9007-12FB-A50DC75A03B1}"/>
              </a:ext>
            </a:extLst>
          </p:cNvPr>
          <p:cNvSpPr txBox="1"/>
          <p:nvPr/>
        </p:nvSpPr>
        <p:spPr>
          <a:xfrm>
            <a:off x="4789126" y="5885793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Gate = 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BF0376-B1F0-83EE-25FB-57F917041E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48811" y="3939929"/>
            <a:ext cx="2110923" cy="19127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1781791-FF7E-1922-0905-C1DEFF5D71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2121" y="3939929"/>
            <a:ext cx="281964" cy="18289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11A6175-FB62-F4AF-FE51-2844598F261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10223" y="3984985"/>
            <a:ext cx="426757" cy="176799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0C39D-EC70-01EB-3ACF-390230EAD406}"/>
              </a:ext>
            </a:extLst>
          </p:cNvPr>
          <p:cNvSpPr txBox="1"/>
          <p:nvPr/>
        </p:nvSpPr>
        <p:spPr>
          <a:xfrm>
            <a:off x="8615499" y="5806444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Gate =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03FDA7-5447-326D-C463-3107680F4164}"/>
              </a:ext>
            </a:extLst>
          </p:cNvPr>
          <p:cNvSpPr txBox="1"/>
          <p:nvPr/>
        </p:nvSpPr>
        <p:spPr>
          <a:xfrm>
            <a:off x="9620901" y="5806444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Gate =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649A7D-BA82-A825-C6A2-DBCC4EBDB397}"/>
              </a:ext>
            </a:extLst>
          </p:cNvPr>
          <p:cNvSpPr txBox="1"/>
          <p:nvPr/>
        </p:nvSpPr>
        <p:spPr>
          <a:xfrm>
            <a:off x="2518035" y="6255125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n-type MOS Transistor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A79DE3-A0AD-768C-E24F-FE1043A8056F}"/>
              </a:ext>
            </a:extLst>
          </p:cNvPr>
          <p:cNvSpPr txBox="1"/>
          <p:nvPr/>
        </p:nvSpPr>
        <p:spPr>
          <a:xfrm>
            <a:off x="6977252" y="6229242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p</a:t>
            </a:r>
            <a:r>
              <a:rPr lang="en-US" sz="1800" b="1" dirty="0"/>
              <a:t>-type MOS Transistor</a:t>
            </a:r>
          </a:p>
        </p:txBody>
      </p:sp>
    </p:spTree>
    <p:extLst>
      <p:ext uri="{BB962C8B-B14F-4D97-AF65-F5344CB8AC3E}">
        <p14:creationId xmlns:p14="http://schemas.microsoft.com/office/powerpoint/2010/main" val="238467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88C68-7209-F9EE-DE73-AE190060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0000-74DF-FC41-4978-FFF347E66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791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Basic Logic Gates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046E25-B110-5DEF-58B1-E511289DE2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62591"/>
            <a:ext cx="66451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Digital logic gates typically operate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logic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Two distinct values in binary logic, denoted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and 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binary logic?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is easy to design electronic circuits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distinct states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Examples: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electronic switch is either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or closed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7" name="Picture 5" descr="CMOS Inverter : Circuit, Working, Characteristics &amp; Its Applications">
            <a:extLst>
              <a:ext uri="{FF2B5EF4-FFF2-40B4-BE49-F238E27FC236}">
                <a16:creationId xmlns:a16="http://schemas.microsoft.com/office/drawing/2014/main" id="{19F5D8B8-4728-D61E-8938-6D966A37A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748" y="3695639"/>
            <a:ext cx="4875486" cy="223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19933AC1-69F5-FE99-3143-F1DC8777B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3365" y="4211549"/>
            <a:ext cx="37901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5888" marR="0" lvl="0" indent="-1158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A = 0 → Output Q = 1 </a:t>
            </a:r>
          </a:p>
          <a:p>
            <a:pPr marL="115888" marR="0" lvl="0" indent="-1158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A = 1 → Output Q = 0 </a:t>
            </a:r>
          </a:p>
          <a:p>
            <a:pPr marL="115888" marR="0" lvl="0" indent="-1158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PMOS on top, NMOS on bottom </a:t>
            </a:r>
          </a:p>
          <a:p>
            <a:pPr marL="115888" marR="0" lvl="0" indent="-1158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transistor ON, the other OFF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A2653-33A3-34E4-2811-7197347DE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365" y="1775070"/>
            <a:ext cx="4476337" cy="12927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B16F5E-DF07-5304-E996-D201A28E26AF}"/>
              </a:ext>
            </a:extLst>
          </p:cNvPr>
          <p:cNvSpPr txBox="1"/>
          <p:nvPr/>
        </p:nvSpPr>
        <p:spPr>
          <a:xfrm>
            <a:off x="2037618" y="5834533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Transistors Build an NOT Gate (Inverter)</a:t>
            </a:r>
          </a:p>
        </p:txBody>
      </p:sp>
    </p:spTree>
    <p:extLst>
      <p:ext uri="{BB962C8B-B14F-4D97-AF65-F5344CB8AC3E}">
        <p14:creationId xmlns:p14="http://schemas.microsoft.com/office/powerpoint/2010/main" val="3517890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D282-1C8C-7152-1130-39DBACA75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628" y="91856"/>
            <a:ext cx="10515600" cy="1325563"/>
          </a:xfrm>
        </p:spPr>
        <p:txBody>
          <a:bodyPr/>
          <a:lstStyle/>
          <a:p>
            <a:r>
              <a:rPr lang="en-US" b="1" dirty="0"/>
              <a:t>Basic Logic Gates</a:t>
            </a:r>
          </a:p>
        </p:txBody>
      </p:sp>
      <p:pic>
        <p:nvPicPr>
          <p:cNvPr id="4098" name="Picture 2" descr="Digital Logic Gates | Using Individual Transistors">
            <a:extLst>
              <a:ext uri="{FF2B5EF4-FFF2-40B4-BE49-F238E27FC236}">
                <a16:creationId xmlns:a16="http://schemas.microsoft.com/office/drawing/2014/main" id="{2393470F-2891-4DE6-A5EC-5FCC75BB2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72" y="1002423"/>
            <a:ext cx="9942786" cy="5592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3337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55780-4591-1047-F4D4-2F445133D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9758B-7FC6-4301-A99D-8B647D1AB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791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From Gates to Circuits</a:t>
            </a:r>
          </a:p>
        </p:txBody>
      </p:sp>
      <p:pic>
        <p:nvPicPr>
          <p:cNvPr id="5122" name="Picture 2" descr="Half adder circuit ,theory and working. Truth table , schematic realization">
            <a:extLst>
              <a:ext uri="{FF2B5EF4-FFF2-40B4-BE49-F238E27FC236}">
                <a16:creationId xmlns:a16="http://schemas.microsoft.com/office/drawing/2014/main" id="{5A6C6512-93B5-AFD0-47D0-5275FD1D3B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771" y="2001564"/>
            <a:ext cx="8434457" cy="3064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46A6FB-E42D-F2C7-B085-61657327FC87}"/>
              </a:ext>
            </a:extLst>
          </p:cNvPr>
          <p:cNvSpPr txBox="1"/>
          <p:nvPr/>
        </p:nvSpPr>
        <p:spPr>
          <a:xfrm>
            <a:off x="4543426" y="5273864"/>
            <a:ext cx="3343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Half Adder Circuit Realization</a:t>
            </a:r>
          </a:p>
        </p:txBody>
      </p:sp>
    </p:spTree>
    <p:extLst>
      <p:ext uri="{BB962C8B-B14F-4D97-AF65-F5344CB8AC3E}">
        <p14:creationId xmlns:p14="http://schemas.microsoft.com/office/powerpoint/2010/main" val="1410633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B526-8CC3-8506-49D0-E81E58CD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856"/>
            <a:ext cx="10515600" cy="1325563"/>
          </a:xfrm>
        </p:spPr>
        <p:txBody>
          <a:bodyPr/>
          <a:lstStyle/>
          <a:p>
            <a:r>
              <a:rPr lang="en-US" b="1" dirty="0"/>
              <a:t>ASIC Design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A1AD53-B547-2344-F0DB-664DA7413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05" y="1045165"/>
            <a:ext cx="10947695" cy="527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72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794B-84CF-2A31-23FF-F6B65167B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Design Specifications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01539-5443-0A81-D868-65CFE808A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01969"/>
            <a:ext cx="10870324" cy="526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4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794B-84CF-2A31-23FF-F6B65167B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643"/>
            <a:ext cx="10515600" cy="1325563"/>
          </a:xfrm>
        </p:spPr>
        <p:txBody>
          <a:bodyPr/>
          <a:lstStyle/>
          <a:p>
            <a:r>
              <a:rPr lang="en-US" b="1" dirty="0"/>
              <a:t>RTL Description (HDL)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6588C-A3EB-7E58-C321-AA4C9B581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33" y="1260912"/>
            <a:ext cx="11203864" cy="547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48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794B-84CF-2A31-23FF-F6B65167B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08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Synthesis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ECCA-A89E-59A1-0995-B8EA3E789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21" y="1195437"/>
            <a:ext cx="11093834" cy="529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39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794B-84CF-2A31-23FF-F6B65167B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28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RTL Code to Optimized Netlist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C03A18-8166-FDC8-D483-C9F72C14B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27411"/>
            <a:ext cx="10981954" cy="526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6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C0542-0872-B551-C367-6099DB1A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88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Logic Synthesis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9C8466-8951-8EB3-30DD-7238C1391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857" y="1471448"/>
            <a:ext cx="10547943" cy="5044225"/>
          </a:xfrm>
        </p:spPr>
      </p:pic>
    </p:spTree>
    <p:extLst>
      <p:ext uri="{BB962C8B-B14F-4D97-AF65-F5344CB8AC3E}">
        <p14:creationId xmlns:p14="http://schemas.microsoft.com/office/powerpoint/2010/main" val="100668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FB751-CA3C-D309-697B-0E363E24A5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PD FLOW and Terminology</a:t>
            </a:r>
          </a:p>
        </p:txBody>
      </p:sp>
    </p:spTree>
    <p:extLst>
      <p:ext uri="{BB962C8B-B14F-4D97-AF65-F5344CB8AC3E}">
        <p14:creationId xmlns:p14="http://schemas.microsoft.com/office/powerpoint/2010/main" val="1273268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93B8-53D6-CD13-584C-A740C0095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50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Inputs to PD Block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C4C6F-FDA7-4EB9-3C5F-67DCE5286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52" y="1407072"/>
            <a:ext cx="10772447" cy="516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8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EC3-50CD-664F-C74E-3F17F2E9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28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ASIC Block-level PD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5BB65-F996-CD6D-60C5-165050007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570311"/>
            <a:ext cx="977265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35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EC3-50CD-664F-C74E-3F17F2E9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842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Full Chip Partitioning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A4BDF-337F-4716-8E0B-D4B05F383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1423987"/>
            <a:ext cx="942022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989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EC3-50CD-664F-C74E-3F17F2E9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637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Floorplan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C7481-D5EC-81F5-72A4-A0AFC68E2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862" y="1471941"/>
            <a:ext cx="9820275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540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28670-6F26-FBA7-A27C-ADA5CA8A5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02655-4686-4B25-DEAA-6E9CCA825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89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Floorplan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1E1A835-B241-9B4F-FDF2-790D0FFDC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924" y="1375243"/>
            <a:ext cx="9806152" cy="534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516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EC3-50CD-664F-C74E-3F17F2E9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99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Power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C44467-FBAC-1C90-D43C-2DCA145BF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12" y="1455518"/>
            <a:ext cx="1001077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898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4B94-1EF2-57C1-BDEF-562DC044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016A-A86F-B6A3-9B3D-6A3E295A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22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Power plan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CB3E611-54B5-0B33-5C94-EAEE03F18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62" y="1276025"/>
            <a:ext cx="10068910" cy="550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30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EC3-50CD-664F-C74E-3F17F2E9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05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Placement and Optimization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D0072-053D-498A-F78D-78FC3EF5A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234" y="1437619"/>
            <a:ext cx="9972675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03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EA96D-339E-D24E-BD95-0B356AE0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E831-E39F-79F0-E1E8-A759D16BD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2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Placement and Optimization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3F0BE8D-C5AB-D1D7-9004-C5A0986C9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65" y="1267491"/>
            <a:ext cx="10026869" cy="548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353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EC3-50CD-664F-C74E-3F17F2E9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144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CTS and Optimization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03044-FD97-C638-7AA2-7716A0784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2" y="1654176"/>
            <a:ext cx="9972675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41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7DEC3-50CD-664F-C74E-3F17F2E9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467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Routing and Optimization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FCEC1-7F18-783B-D071-0A16AE17A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87" y="1530241"/>
            <a:ext cx="9953625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87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694F9-8222-E10D-8158-731824AB2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A7532-929B-9BEE-156D-EA02DB22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0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Routing and Optimization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66757D-C348-759E-11FA-7A5AACD1D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26" y="1415563"/>
            <a:ext cx="9237888" cy="507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842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9794B-84CF-2A31-23FF-F6B65167B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ASIC Design ECOSYSTEM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39089A-2077-776D-20E8-23714AF36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76186"/>
            <a:ext cx="10856911" cy="521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49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33414-4138-A6A3-3E23-7D218ABE2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6CDE18-8F78-5E89-7B32-A8D394121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/>
              <a:t>Questions?</a:t>
            </a:r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C326522D-FC07-E328-B3D4-B50EB5233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82" r="20980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9059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1274</Words>
  <Application>Microsoft Macintosh PowerPoint</Application>
  <PresentationFormat>Widescreen</PresentationFormat>
  <Paragraphs>197</Paragraphs>
  <Slides>28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From Transistor to Silicon: How a Chip Is Born</vt:lpstr>
      <vt:lpstr>Why Chips Matter The Invisible Technology Around Us </vt:lpstr>
      <vt:lpstr>Moore’s Law</vt:lpstr>
      <vt:lpstr>The Smallest Building Block</vt:lpstr>
      <vt:lpstr>Basic Logic Gates</vt:lpstr>
      <vt:lpstr>Basic Logic Gates</vt:lpstr>
      <vt:lpstr>From Gates to Circuits</vt:lpstr>
      <vt:lpstr>ASIC Design Flow</vt:lpstr>
      <vt:lpstr>Design Specifications</vt:lpstr>
      <vt:lpstr>RTL Description (HDL)</vt:lpstr>
      <vt:lpstr>Synthesis</vt:lpstr>
      <vt:lpstr>RTL Code to Optimized Netlist</vt:lpstr>
      <vt:lpstr>Logic Synthesis</vt:lpstr>
      <vt:lpstr>PD FLOW and Terminology</vt:lpstr>
      <vt:lpstr>Inputs to PD Block Implementation</vt:lpstr>
      <vt:lpstr>ASIC Block-level PD Flow</vt:lpstr>
      <vt:lpstr>Full Chip Partitioning</vt:lpstr>
      <vt:lpstr>Floorplan</vt:lpstr>
      <vt:lpstr>Floorplan</vt:lpstr>
      <vt:lpstr>Power plan</vt:lpstr>
      <vt:lpstr>Power plan</vt:lpstr>
      <vt:lpstr>Placement and Optimization</vt:lpstr>
      <vt:lpstr>Placement and Optimization</vt:lpstr>
      <vt:lpstr>CTS and Optimization</vt:lpstr>
      <vt:lpstr>Routing and Optimization</vt:lpstr>
      <vt:lpstr>Routing and Optimization</vt:lpstr>
      <vt:lpstr>ASIC Design ECOSYSTEM</vt:lpstr>
      <vt:lpstr>Questions?</vt:lpstr>
    </vt:vector>
  </TitlesOfParts>
  <Company>Illinois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Sapireddy, Srinivas Rahul</dc:creator>
  <cp:lastModifiedBy>Sapireddy, Srinivas Rahul</cp:lastModifiedBy>
  <cp:revision>13</cp:revision>
  <dcterms:created xsi:type="dcterms:W3CDTF">2026-04-02T17:13:42Z</dcterms:created>
  <dcterms:modified xsi:type="dcterms:W3CDTF">2026-04-06T17:29:43Z</dcterms:modified>
</cp:coreProperties>
</file>